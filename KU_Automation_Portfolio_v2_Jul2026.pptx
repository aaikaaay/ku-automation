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rvices.ku-automation.com" TargetMode="External"/><Relationship Id="rId3" Type="http://schemas.openxmlformats.org/officeDocument/2006/relationships/hyperlink" Target="tel:+17402652849" TargetMode="External"/><Relationship Id="rId4" Type="http://schemas.openxmlformats.org/officeDocument/2006/relationships/hyperlink" Target="https://www.ku-automation.com" TargetMode="Externa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rvices.ku-automation.com" TargetMode="Externa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rvices.ku-automation.com/services" TargetMode="Externa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tel:+17402652849" TargetMode="External"/><Relationship Id="rId3" Type="http://schemas.openxmlformats.org/officeDocument/2006/relationships/hyperlink" Target="https://www.ku-automation.com" TargetMode="Externa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rvices.ku-automation.com" TargetMode="External"/><Relationship Id="rId3" Type="http://schemas.openxmlformats.org/officeDocument/2006/relationships/hyperlink" Target="tel:+17402652849" TargetMode="External"/><Relationship Id="rId4" Type="http://schemas.openxmlformats.org/officeDocument/2006/relationships/hyperlink" Target="https://www.ku-automation.com" TargetMode="External"/><Relationship Id="rId5" Type="http://schemas.openxmlformats.org/officeDocument/2006/relationships/hyperlink" Target="https://www.ku-automation.com/portfolio-presentation.html" TargetMode="External"/><Relationship Id="rId6" Type="http://schemas.openxmlformats.org/officeDocument/2006/relationships/hyperlink" Target="https://www.ku-automation.com/blog" TargetMode="External"/><Relationship Id="rId7" Type="http://schemas.openxmlformats.org/officeDocument/2006/relationships/hyperlink" Target="https://www.ku-automation.com/demos" TargetMode="External"/><Relationship Id="rId8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contact@ku-automation.com" TargetMode="External"/><Relationship Id="rId3" Type="http://schemas.openxmlformats.org/officeDocument/2006/relationships/hyperlink" Target="https://www.ku-automation.com" TargetMode="External"/><Relationship Id="rId4" Type="http://schemas.openxmlformats.org/officeDocument/2006/relationships/hyperlink" Target="https://services.ku-automation.com" TargetMode="External"/><Relationship Id="rId5" Type="http://schemas.openxmlformats.org/officeDocument/2006/relationships/hyperlink" Target="tel:+17402652849" TargetMode="External"/><Relationship Id="rId6" Type="http://schemas.openxmlformats.org/officeDocument/2006/relationships/hyperlink" Target="https://calendly.com/kingsley-uzowulu/30min" TargetMode="External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504" y="13716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971800"/>
            <a:ext cx="12191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KU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22191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C8E6"/>
                </a:solidFill>
              </a:rPr>
              <a:t>AI-Powered Owner's Engineering, Automation &amp; Voice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4462272"/>
            <a:ext cx="265176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4B4D2"/>
                </a:solidFill>
              </a:rPr>
              <a:t>Corporate Portfolio &amp; Capabilities  —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0080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648C"/>
                </a:solidFill>
              </a:rPr>
              <a:t>Confidential  ·  Prepared for Client Meeting  ·  13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01 — ABOUT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Who We 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394960" cy="28346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Kingsley Uzowulu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46E5"/>
                </a:solidFill>
              </a:rPr>
              <a:t>Founder &amp; Principal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95728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Chartered Engineer (CEng MIMechE) with 21+ years of hands-on experience in oil &amp; gas, EPC projects, and manufacturing across the UK, Europe, and Middle East. Domain expert in piping, rotating equipment, process safety, and AI-powered engineering automation.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77639"/>
            <a:ext cx="1600200" cy="27432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99592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F46E5"/>
                </a:solidFill>
              </a:rPr>
              <a:t>CEng  MIMechE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3977639"/>
            <a:ext cx="1600200" cy="27432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7752" y="399592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F46E5"/>
                </a:solidFill>
              </a:rPr>
              <a:t>21+ yrs O&amp;G / EPC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3977639"/>
            <a:ext cx="1600200" cy="27432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99592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F46E5"/>
                </a:solidFill>
              </a:rPr>
              <a:t>AI / ML Specialist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5486400" cy="10972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64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🎯  Our 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Bridge cutting-edge AI with practical engineering workflows — making principal-level review and deep automation accessible to every project team.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24912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862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🏭  Industries 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278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• Oil &amp; Gas (Upstream · Midstream · Downstream)</a:t>
            </a:r>
            <a:br/>
            <a:r>
              <a:t>• EPC Contractors &amp; Engineering Consultancies</a:t>
            </a:r>
            <a:br/>
            <a:r>
              <a:t>• Chemical, Power Generation &amp; 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24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🌍  Geographic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544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UK  •  Europe  •  Middle East  •  Global Remote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56048"/>
            <a:ext cx="11247120" cy="80467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956048"/>
            <a:ext cx="73152" cy="8046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504748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12E81"/>
                </a:solidFill>
              </a:rPr>
              <a:t>"We bridge the gap between cutting-edge AI and practical engineering workflows."</a:t>
            </a:r>
          </a:p>
        </p:txBody>
      </p:sp>
      <p:pic>
        <p:nvPicPr>
          <p:cNvPr id="25" name="Picture 2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</a:rPr>
              <a:t>02 —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3611880" cy="173736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7171"/>
                </a:solidFill>
              </a:rP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CDD7"/>
                </a:solidFill>
              </a:rPr>
              <a:t>of senior engineer time</a:t>
            </a:r>
            <a:br/>
            <a:r>
              <a:t>spent on document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00200"/>
            <a:ext cx="3611880" cy="173736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78308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BBF24"/>
                </a:solidFill>
              </a:rPr>
              <a:t>$400–$800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51460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CDD7"/>
                </a:solidFill>
              </a:rPr>
              <a:t>typical consultant cost</a:t>
            </a:r>
            <a:br/>
            <a:r>
              <a:t>per deliverable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4464" y="1600200"/>
            <a:ext cx="3611880" cy="173736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78308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B923C"/>
                </a:solidFill>
              </a:rPr>
              <a:t>4–6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251460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CDD7"/>
                </a:solidFill>
              </a:rPr>
              <a:t>to manually review</a:t>
            </a:r>
            <a:br/>
            <a:r>
              <a:t>a single tech spec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47872"/>
            <a:ext cx="11277295" cy="265176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307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Common Pain Points We 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87952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2DC"/>
                </a:solidFill>
              </a:rPr>
              <a:t>✗  Manual document review bottlenecks</a:t>
            </a:r>
            <a:br/>
            <a:r>
              <a:t>✗  Inconsistent extraction from drawings</a:t>
            </a:r>
            <a:br/>
            <a:r>
              <a:t>✗  Delayed RFQs — losing contracts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187952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2DC"/>
                </a:solidFill>
              </a:rPr>
              <a:t>✗  Knowledge trapped in experts' heads</a:t>
            </a:r>
            <a:br/>
            <a:r>
              <a:t>✗  Contractor deliverable review backlog</a:t>
            </a:r>
            <a:br/>
            <a:r>
              <a:t>✗  Compliance documentation burden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6217920"/>
            <a:ext cx="54864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03 — 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Three Product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End-to-end AI capabilities — from document review to live voice agents and custom pipelines.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3611880" cy="4553712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11827"/>
                </a:solidFill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7860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</a:rPr>
              <a:t>KU Review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99232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AI Owner's Engineer for 22 deliverable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93592"/>
            <a:ext cx="315468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LIVE at services.ku-automation.com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</a:rPr>
              <a:t>22 live reviewers · 5 disciplines · Results in 4 minutes · From $19/review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83080"/>
            <a:ext cx="3611880" cy="4553712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9385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11827"/>
                </a:solidFill>
              </a:rPr>
              <a:t>☎️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57860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</a:rPr>
              <a:t>KU 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999232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AI voice agents that handle real inbound &amp; outbound calls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99432" y="3593592"/>
            <a:ext cx="3154680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36118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LIVE demo: +1 (740) 265-2849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931920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</a:rPr>
              <a:t>Sub-second latency · ElevenLabs natural voice · Arabic + English · CRM streaming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1783080"/>
            <a:ext cx="3611880" cy="4553712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19385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11827"/>
                </a:solidFill>
              </a:rP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257860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</a:rPr>
              <a:t>Bespoke AI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4" y="2999232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Custom pipelines built to your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13064" y="3593592"/>
            <a:ext cx="315468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58784" y="36118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P&amp;ID extraction · Datasheet parsers · RFQ analysers · Chatbots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3064" y="3931920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</a:rPr>
              <a:t>SharePoint · SAP · AVEVA / Hexagon · REST API · Fully tailored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35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u="sng">
                <a:solidFill>
                  <a:srgbClr val="4F46E5"/>
                </a:solidFill>
                <a:hlinkClick r:id="rId2"/>
              </a:rPr>
              <a:t>→ services.ku-automation.com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6035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u="sng">
                <a:solidFill>
                  <a:srgbClr val="8B5CF6"/>
                </a:solidFill>
                <a:hlinkClick r:id="rId3"/>
              </a:rPr>
              <a:t>→ Call +1 (740) 265-2849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3064" y="6035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u="sng">
                <a:solidFill>
                  <a:srgbClr val="10B981"/>
                </a:solidFill>
                <a:hlinkClick r:id="rId4"/>
              </a:rPr>
              <a:t>→ www.ku-automation.com</a:t>
            </a:r>
          </a:p>
        </p:txBody>
      </p:sp>
      <p:pic>
        <p:nvPicPr>
          <p:cNvPr id="29" name="Picture 28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04 — KU REVIEW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KU Review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F46E5"/>
                </a:solidFill>
              </a:rPr>
              <a:t>Principal-level engineering review, delivered by AI in minutes, not weeks.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2148840" cy="12344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901952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46E5"/>
                </a:solidFill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5059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Live Reviewers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1488" y="1783080"/>
            <a:ext cx="2148840" cy="12344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01952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5CF6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245059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Disciplines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1783080"/>
            <a:ext cx="2148840" cy="12344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1901952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6A34A"/>
                </a:solidFill>
              </a:rPr>
              <a:t>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245059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Delivery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0064" y="1783080"/>
            <a:ext cx="2148840" cy="12344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2" y="1901952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From</a:t>
            </a:r>
            <a:br/>
            <a:r>
              <a:t>$19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245059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Per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74352" y="1783080"/>
            <a:ext cx="2148840" cy="12344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901952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7171"/>
                </a:solidFill>
              </a:rPr>
              <a:t>$250–$800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45059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Consultant</a:t>
            </a:r>
            <a:br/>
            <a:r>
              <a:t>equivalent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82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How It Works — 4-Step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47872"/>
            <a:ext cx="2743200" cy="248716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65760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7880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</a:rPr>
              <a:t>Upload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562856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Any deliverable type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4663440"/>
            <a:ext cx="164592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83280" y="3547872"/>
            <a:ext cx="2743200" cy="248716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365760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17880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</a:rPr>
              <a:t>AI Reviews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562856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vs codes &amp; standards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663440"/>
            <a:ext cx="164592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3547872"/>
            <a:ext cx="2743200" cy="248716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365760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17880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</a:rPr>
              <a:t>Report + Excel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562856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PDF + comment register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4663440"/>
            <a:ext cx="164592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35440" y="3547872"/>
            <a:ext cx="2743200" cy="248716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0032" y="365760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17880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</a:rPr>
              <a:t>Free Preview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562856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5 findings before you pay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17920"/>
            <a:ext cx="11277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u="sng">
                <a:solidFill>
                  <a:srgbClr val="4F46E5"/>
                </a:solidFill>
                <a:hlinkClick r:id="rId2"/>
              </a:rPr>
              <a:t>→ Try live at services.ku-automation.com</a:t>
            </a:r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05 — DISCIPLINE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What's Live: 22 Reviewers Across 5 Disciplines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72768"/>
            <a:ext cx="3566160" cy="21945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8249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Piping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48256"/>
            <a:ext cx="1005840" cy="24688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05740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11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P&amp;ID · Isometric · Line List · Caesar II Stress · GA Drawing · Plot Plan · Valve List · PMS · Piping Class Sheet · MTO/BoQ · Pipe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72768"/>
            <a:ext cx="3566160" cy="21945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8249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2048256"/>
            <a:ext cx="1005840" cy="2468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05740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4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95728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P&amp;ID · PFD · Calculations &amp; Sizing · Reports &amp; Philosophies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4" y="1572768"/>
            <a:ext cx="3566160" cy="21945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68249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Mechanical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67344" y="2048256"/>
            <a:ext cx="1005840" cy="2468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6" y="205740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2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2395728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Pump Datasheet · Compressor Datasheet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56816" y="3977639"/>
            <a:ext cx="3566160" cy="21945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39696" y="4087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Civil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39696" y="4453127"/>
            <a:ext cx="1005840" cy="24688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7128" y="4462272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2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39696" y="48006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Foundation Drawing · Concrete Structure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977639"/>
            <a:ext cx="3566160" cy="21945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087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Structural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453127"/>
            <a:ext cx="1005840" cy="24688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4462272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2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8006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Steel Structure · Pipe Rack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6419088"/>
            <a:ext cx="2130552" cy="34747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6437376"/>
            <a:ext cx="2130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  22 LIVE REVIEWERS  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u="sng">
                <a:solidFill>
                  <a:srgbClr val="4F46E5"/>
                </a:solidFill>
                <a:hlinkClick r:id="rId2"/>
              </a:rPr>
              <a:t>→ Full catalogue at services.ku-automation.com/services</a:t>
            </a:r>
          </a:p>
        </p:txBody>
      </p:sp>
      <p:pic>
        <p:nvPicPr>
          <p:cNvPr id="32" name="Picture 3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06 — REVIEW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What Each Review Delivers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388620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6420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Sample Output — P&amp;ID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2996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</a:rPr>
              <a:t>🔴 11 CRITICAL   🟠 8 MAJOR   🟡 3 MINOR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77440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Recommendation D (Reject) — Return for revision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1576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21-page PDF report  +  Multi-sheet Excel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3580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6A34A"/>
                </a:solidFill>
              </a:rPr>
              <a:t>API cost: $0.18  ·  Delivered in: 4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401568"/>
            <a:ext cx="49834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52044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✓  Severity ratings: CRITICAL / MAJOR / MINOR /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81304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✓  Code references: ASME, API, NACE, ACI, AISC, ISO, IEC, NFPA…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10565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✓  Explicit recommendation (A / B / C / 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3982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✓  PDF review report — professionally formatted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690872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✓  Excel comment register — multi-sheet, sortable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98348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✓  Free 5-finding preview before you pay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508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Why This Matters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38528"/>
            <a:ext cx="5394960" cy="10058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299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</a:rPr>
              <a:t>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02996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2377440"/>
            <a:ext cx="4526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Immediate safety or code violation — must be resolved before approval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81528"/>
            <a:ext cx="5394960" cy="10058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1729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</a:rPr>
              <a:t>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317296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MAJOR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520440"/>
            <a:ext cx="4526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Significant non-conformance — design or specification conflict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224528"/>
            <a:ext cx="5394960" cy="10058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3159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</a:rPr>
              <a:t>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431596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MINOR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4663440"/>
            <a:ext cx="4526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Deviation noted — low risk but should be addressed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5367528"/>
            <a:ext cx="5394960" cy="10058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54589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</a:rPr>
              <a:t>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545896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OBSERVATION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5806440"/>
            <a:ext cx="4526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Advisory note — best-practice suggestion</a:t>
            </a:r>
          </a:p>
        </p:txBody>
      </p:sp>
      <p:pic>
        <p:nvPicPr>
          <p:cNvPr id="34" name="Picture 3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07 — CODES &amp;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Standards We Enforce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</a:rPr>
              <a:t>KU reviewers check against the standards your client expects — not a generic checklist.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577840" cy="1783080"/>
          </a:xfrm>
          <a:prstGeom prst="roundRect">
            <a:avLst/>
          </a:prstGeom>
          <a:solidFill>
            <a:srgbClr val="E0E7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5212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Piping &amp; Mechanical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52120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ASME B31.3 · B31.1 · B16.5 · B16.9 · B16.11 · B16.20 · B16.34</a:t>
            </a:r>
            <a:br/>
            <a:r>
              <a:t>API 6D · API 520/521/526 · API 600/602/607</a:t>
            </a:r>
            <a:br/>
            <a:r>
              <a:t>API 610 · 617 · 618 · 619 · 670 · 671 · 682 · 692 · ISO 15848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5577840" cy="178308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47088"/>
            <a:ext cx="5212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Process &amp;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52120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API RP 14C/14E · API 520/521 · API 752/753 · API RP 754</a:t>
            </a:r>
            <a:br/>
            <a:r>
              <a:t>IEC 61508 / 61511 / 62443 · ISA 5.1 · ISA 18.2</a:t>
            </a:r>
            <a:br/>
            <a:r>
              <a:t>HAZOP / LOPA / SIL methodology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67328"/>
            <a:ext cx="3566160" cy="2542032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770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Structural &amp; Civil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42816"/>
            <a:ext cx="320040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AISC 360 · AISC 341 · ASCE 7 · ACI 318 · ACI 224R · ACI 360R</a:t>
            </a:r>
            <a:br/>
            <a:r>
              <a:t>AWS D1.1 · EN 1992-1-1 · EN 1993-1-1 · IBC 2021 · UFC 3-340-02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3767328"/>
            <a:ext cx="3566160" cy="2542032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38770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Materials &amp; Corrosion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4242816"/>
            <a:ext cx="320040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NACE MR0175 / ISO 15156 · ASTM G88 · API 941</a:t>
            </a:r>
            <a:br/>
            <a:r>
              <a:t>MSS-SP-44 / 58 / 69 / 75 / 97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3767328"/>
            <a:ext cx="3566160" cy="2542032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38770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Fire &amp;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4242816"/>
            <a:ext cx="320040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NFPA 30 · NFPA 2 · NFPA 58</a:t>
            </a:r>
            <a:br/>
            <a:r>
              <a:t>IP 19 / EI Model Code · OISD 116 · API 2218</a:t>
            </a:r>
          </a:p>
        </p:txBody>
      </p:sp>
      <p:pic>
        <p:nvPicPr>
          <p:cNvPr id="20" name="Picture 1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08 — KU 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KU Voice — AI That Answers Your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</a:rPr>
              <a:t>AI voice agents that handle real inbound &amp; outbound calls — indistinguishable from a trained human agent.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19072"/>
            <a:ext cx="11277295" cy="987552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📞  Live Demo Line — Call Now: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762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</a:rPr>
              <a:t>+1 (740) 265-2849  —  Mythos Kouzina, Greek restaurant AI agent (Dubai)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274320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944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</a:rPr>
              <a:t>Sub-second</a:t>
            </a:r>
            <a:br/>
            <a:r>
              <a:t>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015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Near-instant voice response; no awkward pauses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834640"/>
            <a:ext cx="274320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🗣️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944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</a:rPr>
              <a:t>Natural 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4015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ElevenLabs 'Willa' — natural British female voice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834640"/>
            <a:ext cx="274320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944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</a:rPr>
              <a:t>Multilingual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015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Arabic + English; handles accents &amp; interruptions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834640"/>
            <a:ext cx="274320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2944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</a:rPr>
              <a:t>CRM Streaming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4015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Calls stream live to your CRM or Google Sheets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708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Use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81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🍽️  Restaurant order-taking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29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📅  Appointment booking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76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🎯  Lead qualification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681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🏢  After-hours reception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029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👋  Front-desk assistant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4315968"/>
            <a:ext cx="4114800" cy="201168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44622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864608"/>
            <a:ext cx="37490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2E6"/>
                </a:solidFill>
              </a:rPr>
              <a:t>The global call-centre outsourcing market exceeds $500B. AI voice agents are the fastest-growing AI deployment category in 2026 — with zero marginal cost per additional call.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36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4F46E5"/>
                </a:solidFill>
                <a:hlinkClick r:id="rId2"/>
              </a:rPr>
              <a:t>→ CALL LIVE NOW: +1 (740) 265-2849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6236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4F46E5"/>
                </a:solidFill>
                <a:hlinkClick r:id="rId3"/>
              </a:rPr>
              <a:t>→ www.ku-automation.com</a:t>
            </a:r>
          </a:p>
        </p:txBody>
      </p:sp>
      <p:pic>
        <p:nvPicPr>
          <p:cNvPr id="35" name="Picture 3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09 — BESPOKE AI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Custom AI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</a:rPr>
              <a:t>Beyond the portal — fully custom AI pipelines designed around your existing workflows and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19072"/>
            <a:ext cx="3611880" cy="2084831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5915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P&amp;ID Data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74320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Extract equipment, valves, instruments &amp; tags to structured Excel — automated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438144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</a:rPr>
              <a:t>70% time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19072"/>
            <a:ext cx="3611880" cy="2084831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35915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Datasheet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74320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Parse technical datasheets into structured database records with 85%+ accuracy gain.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438144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85% accuracy gain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1719072"/>
            <a:ext cx="3611880" cy="2084831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35915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RFQ / Tender Analyser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74320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AI scans tenders, identifies missed line items, flags scope gaps — 3× faster bid response.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438144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855F7"/>
                </a:solidFill>
              </a:rPr>
              <a:t>3× faster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05072"/>
            <a:ext cx="3611880" cy="2084831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64515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Engineering Chatbot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02920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RAG chatbot trained on your standards, past projects, and SOPs — available 24/7.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724144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B6D4"/>
                </a:solidFill>
              </a:rPr>
              <a:t>24/7 knowledge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4005072"/>
            <a:ext cx="3611880" cy="2084831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464515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Knowledge Extraction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502920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Turn 20 years of expert know-how into a queryable, searchable knowledge base.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5724144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Capture expert 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84464" y="4005072"/>
            <a:ext cx="3611880" cy="2084831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9056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464515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Custom Integrations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502920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Connect to SharePoint, SAP, AVEVA/Hexagon, or any REST API — bespoke connectors.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5724144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</a:rPr>
              <a:t>Seamless integration</a:t>
            </a:r>
          </a:p>
        </p:txBody>
      </p:sp>
      <p:pic>
        <p:nvPicPr>
          <p:cNvPr id="35" name="Picture 3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10 — LIVE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What You Can See Tomorrow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No signup required for the preview — everything below is production-live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19072"/>
            <a:ext cx="11277295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922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F46E5"/>
                </a:solidFill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7739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4F46E5"/>
                </a:solidFill>
                <a:hlinkClick r:id="rId2"/>
              </a:rPr>
              <a:t>services.ku-automation.com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066543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Full marketplace — 22 reviewers browsable by discipline. Upload a P&amp;ID and get a 5-finding free preview in 4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23160"/>
            <a:ext cx="11277295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</a:rP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47802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Upload a Real 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7706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Bring any P&amp;ID, isometric, or datasheet. We'll run a live review and walk through the PDF + Excel output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27248"/>
            <a:ext cx="11277295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5CF6"/>
                </a:solidFill>
              </a:rPr>
              <a:t>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18211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8B5CF6"/>
                </a:solidFill>
                <a:hlinkClick r:id="rId3"/>
              </a:rPr>
              <a:t>+1 (740) 265-2849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4747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Call the KU Voice demo live in the meeting — Mythos Kouzina Greek restaurant AI. Place a real order or ask about the menu.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31335"/>
            <a:ext cx="11277295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04487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9E0B"/>
                </a:solidFill>
              </a:rPr>
              <a:t>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886199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59E0B"/>
                </a:solidFill>
                <a:hlinkClick r:id="rId4"/>
              </a:rPr>
              <a:t>www.ku-automation.com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178807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Corporate site + 38+ technical blog posts on engineering AI. Shows content authority and pipeline depth.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35424"/>
            <a:ext cx="11277295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08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F4444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5902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EF4444"/>
                </a:solidFill>
                <a:hlinkClick r:id="rId5"/>
              </a:rPr>
              <a:t>www.ku-automation.com/portfolio-presentation.html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88289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Web version of this deck — interactive HTML for sharing with decision-makers who weren't in the room.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239512"/>
            <a:ext cx="11277295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1266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B8A6"/>
                </a:solidFill>
              </a:rPr>
              <a:t>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52943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14B8A6"/>
                </a:solidFill>
                <a:hlinkClick r:id="rId6"/>
              </a:rPr>
              <a:t>www.ku-automation.com/blog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558698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38+ engineering AI blog posts — demonstrates domain authority and content depth to technical audiences.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1277295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016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855F7"/>
                </a:solidFill>
              </a:rPr>
              <a:t>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99846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A855F7"/>
                </a:solidFill>
                <a:hlinkClick r:id="rId7"/>
              </a:rPr>
              <a:t>www.ku-automation.com/demos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629107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Interactive demos — live product showcases you can explore without login.</a:t>
            </a:r>
          </a:p>
        </p:txBody>
      </p:sp>
      <p:pic>
        <p:nvPicPr>
          <p:cNvPr id="34" name="Picture 33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11 —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Flexible Deployment Options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3611880" cy="425196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17320" y="1261872"/>
            <a:ext cx="169164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280160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MOST POPULAR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11827"/>
                </a:solidFill>
              </a:rPr>
              <a:t>☁️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31136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</a:rPr>
              <a:t>Cloud SaaS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334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Fully managed on secure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99232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✓  No IT infrastructure required</a:t>
            </a:r>
            <a:br/>
            <a:r>
              <a:t>✓  Automatic updates &amp; maintenance</a:t>
            </a:r>
            <a:br/>
            <a:r>
              <a:t>✓  Web browser access</a:t>
            </a:r>
            <a:br/>
            <a:r>
              <a:t>✓  API integration available</a:t>
            </a:r>
            <a:br/>
            <a:r>
              <a:t>✓  99.9% uptime SLA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81328"/>
            <a:ext cx="3611880" cy="4251960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6276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11827"/>
                </a:solidFill>
              </a:rP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31136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</a:rPr>
              <a:t>Private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6334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Dedicated VPC instance in your region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999232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✓  Dedicated resources</a:t>
            </a:r>
            <a:br/>
            <a:r>
              <a:t>✓  Data stays in your region</a:t>
            </a:r>
            <a:br/>
            <a:r>
              <a:t>✓  VPC integration</a:t>
            </a:r>
            <a:br/>
            <a:r>
              <a:t>✓  Custom security policies</a:t>
            </a:r>
            <a:br/>
            <a:r>
              <a:t>✓  SSO / SAML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1481328"/>
            <a:ext cx="3611880" cy="425196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3064" y="16276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11827"/>
                </a:solidFill>
              </a:rPr>
              <a:t>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2231136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</a:rPr>
              <a:t>On-Premise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26334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Full deployment in your data centre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2999232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✓  Complete data control</a:t>
            </a:r>
            <a:br/>
            <a:r>
              <a:t>✓  Air-gapped option available</a:t>
            </a:r>
            <a:br/>
            <a:r>
              <a:t>✓  Integrates with existing systems</a:t>
            </a:r>
            <a:br/>
            <a:r>
              <a:t>✓  Custom hardware specs</a:t>
            </a:r>
            <a:br/>
            <a:r>
              <a:t>✓  Perpetual licence option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70448"/>
            <a:ext cx="11277295" cy="713232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99846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🔌  Integrations:  SharePoint  ·  SAP  ·  AVEVA / Hexagon  ·  REST API  ·  Custom connectors</a:t>
            </a:r>
          </a:p>
        </p:txBody>
      </p:sp>
      <p:pic>
        <p:nvPicPr>
          <p:cNvPr id="23" name="Picture 2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</a:rPr>
              <a:t>12 — 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Enterprise-Grade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5394960" cy="3090672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642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🔒  Data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84831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DCB4"/>
                </a:solidFill>
              </a:rPr>
              <a:t>✓  AES-256 encryption at rest; TLS 1.3 in transit</a:t>
            </a:r>
            <a:br/>
            <a:r>
              <a:t>✓  Tenant-isolated databases — no data co-mingling</a:t>
            </a:r>
            <a:br/>
            <a:r>
              <a:t>✓  Configurable no-retention — data deleted post-review</a:t>
            </a:r>
            <a:br/>
            <a:r>
              <a:t>✓  Data residency: UK / EU / UAE — your choice</a:t>
            </a:r>
            <a:br/>
            <a:r>
              <a:t>✓  Zero-data-retention AI endpoints — not used for training</a:t>
            </a:r>
            <a:br/>
            <a:r>
              <a:t>✓  Isolated compute per tenant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486400" cy="3090672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64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👤 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84831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DCB4"/>
                </a:solidFill>
              </a:rPr>
              <a:t>✓  SAML / OAuth 2.0 / Azure AD SSO</a:t>
            </a:r>
            <a:br/>
            <a:r>
              <a:t>✓  Role-based permissions — granular control</a:t>
            </a:r>
            <a:br/>
            <a:r>
              <a:t>✓  MFA required for all user accounts</a:t>
            </a:r>
            <a:br/>
            <a:r>
              <a:t>✓  Full audit logs — complete activity trails</a:t>
            </a:r>
            <a:br/>
            <a:r>
              <a:t>✓  IP allowlisting available</a:t>
            </a:r>
            <a:br/>
            <a:r>
              <a:t>✓  Configurable session timeouts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09160"/>
            <a:ext cx="11277295" cy="658368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82803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🔑  Your drawings never leave secure infrastructure. AI providers are configured with zero-data-retention endpoints. You own all inputs and outputs.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11277295" cy="713232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6509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🇬🇧  UK GDPR     🔐  ISO 27001 (in progress)     ☁️  SOC 2 Type II (in progress)     🇦🇪  UAE PDPL     🏭  API/ISO/ASME Industry Standards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84280" y="6217920"/>
            <a:ext cx="54864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13 — SUPPORT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Support Tiers &amp; SOP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3611880" cy="331012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642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</a:rPr>
              <a:t>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4831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Included with all plans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87168"/>
            <a:ext cx="3108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✓  Email support (24 hr response)</a:t>
            </a:r>
            <a:br/>
            <a:r>
              <a:t>✓  Documentation &amp; knowledge base</a:t>
            </a:r>
            <a:br/>
            <a:r>
              <a:t>✓  Quarterly software updates</a:t>
            </a:r>
            <a:br/>
            <a:r>
              <a:t>✓  Bug fixes &amp; security patches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81328"/>
            <a:ext cx="3611880" cy="331012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6642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</a:rPr>
              <a:t>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084831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Recommended for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487168"/>
            <a:ext cx="3108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✓  4-hour response time</a:t>
            </a:r>
            <a:br/>
            <a:r>
              <a:t>✓  Phone &amp; video call support</a:t>
            </a:r>
            <a:br/>
            <a:r>
              <a:t>✓  Dedicated account manager</a:t>
            </a:r>
            <a:br/>
            <a:r>
              <a:t>✓  Monthly check-in calls</a:t>
            </a:r>
            <a:br/>
            <a:r>
              <a:t>✓  Priority feature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4464" y="1481328"/>
            <a:ext cx="3611880" cy="331012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16642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2084831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E"/>
                </a:solidFill>
              </a:rPr>
              <a:t>Mission-critical deployments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2487168"/>
            <a:ext cx="3108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1-hour response (24/7)</a:t>
            </a:r>
            <a:br/>
            <a:r>
              <a:t>✓  On-site support available</a:t>
            </a:r>
            <a:br/>
            <a:r>
              <a:t>✓  Custom SLA agreements</a:t>
            </a:r>
            <a:br/>
            <a:r>
              <a:t>✓  Dedicated engineering team</a:t>
            </a:r>
            <a:br/>
            <a:r>
              <a:t>✓  Quarterly business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56048"/>
            <a:ext cx="11277295" cy="1627632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102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📋  SOP Governance — Internal Quality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4864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8 documented SOPs (SOP-01 to SOP-08) governing: model selection &amp; prompt versioning · data handling &amp; retention · incident response &amp; escalation · full audit trail · disclosure to end-users · hallucination detection checks · code-reference validation · change-control for reviewers.</a:t>
            </a:r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14 — ENGAGEMENT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How We Work Together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81328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6217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435608"/>
            <a:ext cx="103327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52704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</a:rPr>
              <a:t>Week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8470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Discovery &amp;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682496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Understand your workflows, review sample deliverables, IT &amp; security assessment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4320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871216"/>
            <a:ext cx="6217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2697480"/>
            <a:ext cx="103327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278892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</a:rPr>
              <a:t>Week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Proof of 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2944368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Configure with your real data; pilot with a live project team; measure results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005072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133087"/>
            <a:ext cx="6217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3959352"/>
            <a:ext cx="103327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4050791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</a:rPr>
              <a:t>Week 5–8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370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Production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420624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Full deployment, system integration, user training, go-live sign-off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266944"/>
            <a:ext cx="658368" cy="6583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394959"/>
            <a:ext cx="6217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5221224"/>
            <a:ext cx="103327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531266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</a:rPr>
              <a:t>Ongoing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56327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</a:rPr>
              <a:t>Continuous Support &amp;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3328" y="5468112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Monthly check-ins, model updates, expand to more disciplines or new use cases</a:t>
            </a:r>
          </a:p>
        </p:txBody>
      </p:sp>
      <p:pic>
        <p:nvPicPr>
          <p:cNvPr id="29" name="Picture 2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15 — RESULTS &amp; CASE SNAPSHOTS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Proven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2743200" cy="14813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2402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F0FF"/>
                </a:solidFill>
              </a:rPr>
              <a:t>Doc processing</a:t>
            </a:r>
            <a:br/>
            <a:r>
              <a:t>time reduction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81328"/>
            <a:ext cx="2743200" cy="14813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62763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2402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F0FF"/>
                </a:solidFill>
              </a:rPr>
              <a:t>Data accuracy</a:t>
            </a:r>
            <a:br/>
            <a:r>
              <a:t>gain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81328"/>
            <a:ext cx="2743200" cy="148132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3×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402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F0FF"/>
                </a:solidFill>
              </a:rPr>
              <a:t>Faster RFQ</a:t>
            </a:r>
            <a:br/>
            <a:r>
              <a:t>response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481328"/>
            <a:ext cx="2743200" cy="14813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00032" y="162763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&lt;4 wk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0032" y="22402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F0FF"/>
                </a:solidFill>
              </a:rPr>
              <a:t>Typical ROI</a:t>
            </a:r>
            <a:br/>
            <a:r>
              <a:t>payback period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0672"/>
            <a:ext cx="5650992" cy="3493008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4612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46E5"/>
                </a:solidFill>
              </a:rPr>
              <a:t>Case A — P&amp;ID Review (anonymised)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657600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A sour-gas project (anonymised):</a:t>
            </a:r>
            <a:br/>
            <a:br/>
            <a:r>
              <a:t>AI flagged NPSH margin 0.3 m below API 610 minimum, 3 missing NACE material specifications, and 4 relief-routing issues — in 4 minutes.</a:t>
            </a:r>
            <a:br/>
            <a:br/>
            <a:r>
              <a:t>Consultant equivalent:  6 hours / ~$400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090672"/>
            <a:ext cx="5650992" cy="3493008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24612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</a:rPr>
              <a:t>Case B — Bulk Isometric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657600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50 isometrics reviewed across one week:</a:t>
            </a:r>
            <a:br/>
            <a:br/>
            <a:r>
              <a:t>Was: 25–50 engineer-hours (manual)</a:t>
            </a:r>
            <a:br/>
            <a:r>
              <a:t>Is now: 4–5 hours with the portal — 90%+ time saving</a:t>
            </a:r>
            <a:br/>
            <a:br/>
            <a:r>
              <a:t>95%+ of comments include ASME B31.3 code references. Standardised severity ratings across all 50 documents.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16 —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827"/>
                </a:solidFill>
              </a:rPr>
              <a:t>Pricing &amp; Engagement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3611880" cy="422452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642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</a:rPr>
              <a:t>Pay-Per-Review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Self-serve · no commitment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87168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From $15</a:t>
            </a:r>
            <a:br/>
            <a:r>
              <a:t>Quick review</a:t>
            </a:r>
            <a:br/>
            <a:r>
              <a:t>$39 Detailed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18688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✓  No subscription</a:t>
            </a:r>
            <a:br/>
            <a:r>
              <a:t>✓  Free 5-finding preview</a:t>
            </a:r>
            <a:br/>
            <a:r>
              <a:t>✓  All 22 disciplines</a:t>
            </a:r>
            <a:br/>
            <a:r>
              <a:t>✓  Instant delivery</a:t>
            </a:r>
            <a:br/>
            <a:r>
              <a:t>✓  Best for testing the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81328"/>
            <a:ext cx="3611880" cy="42245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30952" y="1261872"/>
            <a:ext cx="1691640" cy="2743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6672" y="1280160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MOST POPULAR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16642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Team Subscription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084831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C3E6"/>
                </a:solidFill>
              </a:rPr>
              <a:t>Most popular — for active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487168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$2,900/mo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3218688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Unlimited reviews (5 users)</a:t>
            </a:r>
            <a:br/>
            <a:r>
              <a:t>✓  Priority processing queue</a:t>
            </a:r>
            <a:br/>
            <a:r>
              <a:t>✓  All 22 disciplines</a:t>
            </a:r>
            <a:br/>
            <a:r>
              <a:t>✓  Dedicated account manager</a:t>
            </a:r>
            <a:br/>
            <a:r>
              <a:t>✓  Monthly reporting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1481328"/>
            <a:ext cx="3611880" cy="422452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16642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084831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C3E6"/>
                </a:solidFill>
              </a:rPr>
              <a:t>Dedicated tenant, custom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2487168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Custom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3218688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Dedicated tenant &amp; SSO</a:t>
            </a:r>
            <a:br/>
            <a:r>
              <a:t>✓  On-prem or private cloud</a:t>
            </a:r>
            <a:br/>
            <a:r>
              <a:t>✓  Custom disciplines</a:t>
            </a:r>
            <a:br/>
            <a:r>
              <a:t>✓  Unlimited seats</a:t>
            </a:r>
            <a:br/>
            <a:r>
              <a:t>✓  Dedicated SLAs + support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33872"/>
            <a:ext cx="11277295" cy="7498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96188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⚙️  Bespoke Projects:  Custom AI automation pipelines from £5K pilot to £75K+ annual programmes. Tailored to your tech stack, data, and delivery schedule.</a:t>
            </a:r>
          </a:p>
        </p:txBody>
      </p:sp>
      <p:pic>
        <p:nvPicPr>
          <p:cNvPr id="24" name="Picture 2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</a:rPr>
              <a:t>17 —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BD Opportunity in the Middle East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77295" cy="987552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BBF24"/>
                </a:solidFill>
              </a:rPr>
              <a:t>Middle East EPC &amp; AI Services Market:  40%+ YoY growth  ·  ~$2B+ addressable  ·  Highly underpenetrated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06040"/>
            <a:ext cx="5349240" cy="3310128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76148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What KU Has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82112"/>
            <a:ext cx="489204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2E6"/>
                </a:solidFill>
              </a:rPr>
              <a:t>✓  22 productised, live AI reviewers</a:t>
            </a:r>
            <a:br/>
            <a:r>
              <a:t>✓  KU Voice — live AI call agent</a:t>
            </a:r>
            <a:br/>
            <a:r>
              <a:t>✓  Bespoke automation pipeline capability</a:t>
            </a:r>
            <a:br/>
            <a:r>
              <a:t>✓  38+ published engineering AI articles</a:t>
            </a:r>
            <a:br/>
            <a:r>
              <a:t>✓  Working SaaS with real paying users</a:t>
            </a:r>
            <a:br/>
            <a:r>
              <a:t>✓  Sole channel today: LinkedIn + inbound web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06040"/>
            <a:ext cx="5605272" cy="3310128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7614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Distribution — Wide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3182112"/>
            <a:ext cx="516636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2E6"/>
                </a:solidFill>
              </a:rPr>
              <a:t>ADNOC  ·  Saudi Aramco  ·  QatarEnergy</a:t>
            </a:r>
            <a:br/>
            <a:r>
              <a:t>PDO  ·  KOC  ·  Sonatrach  ·  TAQA  ·  EGA</a:t>
            </a:r>
            <a:br/>
            <a:br/>
            <a:r>
              <a:t>Major EPCs:</a:t>
            </a:r>
            <a:br/>
            <a:r>
              <a:t>Petrofac  ·  Worley  ·  Wood  ·  TechnipFMC</a:t>
            </a:r>
            <a:br/>
            <a:r>
              <a:t>McDermott  ·  L&amp;T  ·  JGC  ·  Chiyoda</a:t>
            </a:r>
            <a:br/>
            <a:br/>
            <a:r>
              <a:t>BD partnership = uncapped upside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035040"/>
            <a:ext cx="11277295" cy="62179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144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🤝  KU has the product. The market is ready. The missing piece is feet on the ground.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84280" y="6217920"/>
            <a:ext cx="54864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38912"/>
            <a:ext cx="121916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</a:rPr>
              <a:t>18 —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49808"/>
            <a:ext cx="121916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Let's Build Something in the Gulf.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00200"/>
            <a:ext cx="3035808" cy="1965960"/>
          </a:xfrm>
          <a:prstGeom prst="round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50591" y="1755648"/>
            <a:ext cx="868680" cy="8686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1865376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7432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Discovery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309067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8C8E4"/>
                </a:solidFill>
              </a:rPr>
              <a:t>30-min call to understand</a:t>
            </a:r>
            <a:br/>
            <a:r>
              <a:t>your context &amp; priorities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1728" y="1600200"/>
            <a:ext cx="3035808" cy="1965960"/>
          </a:xfrm>
          <a:prstGeom prst="round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0" y="1755648"/>
            <a:ext cx="868680" cy="8686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1865376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432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Custom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09067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8C8E4"/>
                </a:solidFill>
              </a:rPr>
              <a:t>Live walk-through with</a:t>
            </a:r>
            <a:br/>
            <a:r>
              <a:t>your own documents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600200"/>
            <a:ext cx="3035808" cy="1965960"/>
          </a:xfrm>
          <a:prstGeom prst="round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70848" y="1755648"/>
            <a:ext cx="868680" cy="8686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7424" y="1865376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7432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Proposal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309067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8C8E4"/>
                </a:solidFill>
              </a:rPr>
              <a:t>Detailed scope, timeline,</a:t>
            </a:r>
            <a:br/>
            <a:r>
              <a:t>and investment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3703320"/>
            <a:ext cx="6885432" cy="2633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3822191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11827"/>
                </a:solidFill>
              </a:rPr>
              <a:t>Contact 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251960"/>
            <a:ext cx="6510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👤  Kingsley Uzowulu  —  Founder &amp; Principal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617720"/>
            <a:ext cx="6510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u="sng">
                <a:solidFill>
                  <a:srgbClr val="4F46E5"/>
                </a:solidFill>
                <a:hlinkClick r:id="rId2"/>
              </a:rPr>
              <a:t>📧  contact@ku-automation.com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937759"/>
            <a:ext cx="6510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u="sng">
                <a:solidFill>
                  <a:srgbClr val="4F46E5"/>
                </a:solidFill>
                <a:hlinkClick r:id="rId3"/>
              </a:rPr>
              <a:t>🌐  www.ku-automation.com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257800"/>
            <a:ext cx="6510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u="sng">
                <a:solidFill>
                  <a:srgbClr val="4F46E5"/>
                </a:solidFill>
                <a:hlinkClick r:id="rId4"/>
              </a:rPr>
              <a:t>🛍️  services.ku-automation.com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577840"/>
            <a:ext cx="6510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u="sng">
                <a:solidFill>
                  <a:srgbClr val="4F46E5"/>
                </a:solidFill>
                <a:hlinkClick r:id="rId5"/>
              </a:rPr>
              <a:t>📞  +1 (740) 265-2849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897879"/>
            <a:ext cx="6510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u="sng">
                <a:solidFill>
                  <a:srgbClr val="4F46E5"/>
                </a:solidFill>
                <a:hlinkClick r:id="rId6"/>
              </a:rPr>
              <a:t>📅  calendly.com/kingsley-uzowulu/30min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6496"/>
                </a:solidFill>
              </a:rPr>
              <a:t>KU Automation  ·  Confidential  ·  July 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6217920"/>
            <a:ext cx="54864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