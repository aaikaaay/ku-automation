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371600"/>
            <a:ext cx="1371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691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KU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DC"/>
                </a:solidFill>
              </a:defRPr>
            </a:pPr>
            <a:r>
              <a:t>AI-Powered Engineering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4572000"/>
            <a:ext cx="22860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C8"/>
                </a:solidFill>
              </a:defRPr>
            </a:pPr>
            <a:r>
              <a:t>Corporate Portfolio &amp;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0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01 — ABOUT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Who We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2560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</a:defRPr>
            </a:pPr>
            <a:r>
              <a:t>Kingsley Uzowulu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46E5"/>
                </a:solidFill>
              </a:defRPr>
            </a:pPr>
            <a:r>
              <a:t>Founder &amp; Lead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Chartered Engineer (CEng MIMechE) with 21+ years of experience in oil &amp; gas, EPC projects, and manufacturing across the UK, Europe, and Middle East.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5544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85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Chartered Engineer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657600"/>
            <a:ext cx="91440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6850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MIMechE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657600"/>
            <a:ext cx="128016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685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AI/ML Specialist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303520" cy="11887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🎯 Our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Transform engineering productivity through AI automation that actually works in real-world project environments.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303520" cy="1828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🏭 Industries 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• Oil &amp; Gas (Upstream, Midstream, Downstream)</a:t>
            </a:r>
            <a:br/>
            <a:r>
              <a:t>• EPC Contractors &amp; Engineering Consultancies</a:t>
            </a:r>
            <a:br/>
            <a:r>
              <a:t>• Chemical, Power Generation &amp; Manufacturing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303520" cy="9144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731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2E81"/>
                </a:solidFill>
              </a:defRPr>
            </a:pPr>
            <a:r>
              <a:t>"We bridge the gap between cutting-edge AI and practical engineering workflows."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🌍 Geographic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UK • Europe • Middle East • Global Remote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</a:defRPr>
            </a:pPr>
            <a:r>
              <a:t>02 —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7171"/>
                </a:solidFill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of senior engineer time on document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BBF24"/>
                </a:solidFill>
              </a:defRPr>
            </a:pPr>
            <a:r>
              <a:t>£50B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annual cost of unplanned downtime (UK)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B923C"/>
                </a:solidFill>
              </a:defRPr>
            </a:pPr>
            <a:r>
              <a:t>4-6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to manually review a single tech 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277295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Common Pain Points We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✗ Manual document review bottlenecks</a:t>
            </a:r>
            <a:br/>
            <a:r>
              <a:t>✗ Inconsistent data extraction from drawings</a:t>
            </a:r>
            <a:br/>
            <a:r>
              <a:t>✗ Delayed RFQ responses losing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97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✗ Knowledge trapped in experts' heads</a:t>
            </a:r>
            <a:br/>
            <a:r>
              <a:t>✗ Contractor deliverable review backlog</a:t>
            </a:r>
            <a:br/>
            <a:r>
              <a:t>✗ Compliance documentation burden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03 — OUR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AI Solutions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End-to-end AI automation for engineering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11827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P&amp;ID Data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Extract equipment, valves, instruments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70% time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11827"/>
                </a:solidFill>
              </a:defRPr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Datasheet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Parse datasheets into structured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85% accuracy gain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56616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11827"/>
                </a:solidFill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RFQ/Tender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AI-powered RFQ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</a:defRPr>
            </a:pPr>
            <a:r>
              <a:t>3x faster responses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356616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11827"/>
                </a:solidFill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Document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6-layer assessment + code refs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4 hrs → 4 mins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023360"/>
            <a:ext cx="356616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11827"/>
                </a:solidFill>
              </a:defRPr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Stress Analysis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CAESAR II / AutoPIPE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</a:defRPr>
            </a:pPr>
            <a:r>
              <a:t>Catch software misses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23360"/>
            <a:ext cx="356616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11827"/>
                </a:solidFill>
              </a:defRPr>
            </a:pPr>
            <a:r>
              <a:t>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Engineering Chatbots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Knowledge base on your standards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24/7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04 — LIVE DEMONSTRATIONS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Production-Ready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Try our tools live — no signup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🟢 Live at www.ku-automation.com/demos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Available 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t>📊 P&amp;ID Parser v2.0</a:t>
            </a:r>
            <a:br/>
            <a:r>
              <a:t>📄 Datasheet Parser v2.0</a:t>
            </a:r>
            <a:br/>
            <a:r>
              <a:t>⚡ RFQ Analyzer v2.0</a:t>
            </a:r>
            <a:br/>
            <a:r>
              <a:t>🔍 Piping Document Review v2.0</a:t>
            </a:r>
            <a:br/>
            <a:r>
              <a:t>📈 Stress Analysis Review (NEW)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Demo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t>Input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PDF • JPG/PNG • Multi-page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t>Output Formats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Excel (.xlsx) • JSON •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t>Processing Speed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4937760" cy="10972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</a:defRPr>
            </a:pPr>
            <a:r>
              <a:t>30-90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per document (depending on complexity)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05 —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Flexible Deployment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4114800"/>
          </a:xfrm>
          <a:prstGeom prst="round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</a:defRPr>
            </a:pPr>
            <a:r>
              <a:t>☁️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Cloud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Fully managed on secure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✓ No IT infrastructure required</a:t>
            </a:r>
            <a:br/>
            <a:r>
              <a:t>✓ Automatic updates &amp; maintenance</a:t>
            </a:r>
            <a:br/>
            <a:r>
              <a:t>✓ Web browser access</a:t>
            </a:r>
            <a:br/>
            <a:r>
              <a:t>✓ API integration available</a:t>
            </a:r>
            <a:br/>
            <a:r>
              <a:t>✓ 99.9% uptime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280160"/>
            <a:ext cx="1645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307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MOST POPULAR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114800"/>
          </a:xfrm>
          <a:prstGeom prst="roundRect">
            <a:avLst/>
          </a:prstGeom>
          <a:solidFill>
            <a:srgbClr val="F3E8F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Private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Dedicated instance on your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✓ Dedicated resources</a:t>
            </a:r>
            <a:br/>
            <a:r>
              <a:t>✓ Data stays in your region</a:t>
            </a:r>
            <a:br/>
            <a:r>
              <a:t>✓ VPC integration</a:t>
            </a:r>
            <a:br/>
            <a:r>
              <a:t>✓ Custom security policies</a:t>
            </a:r>
            <a:br/>
            <a:r>
              <a:t>✓ SSO/SAML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566160" cy="4114800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</a:defRPr>
            </a:pPr>
            <a: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On-Premise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Full deployment in your data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✓ Complete data control</a:t>
            </a:r>
            <a:br/>
            <a:r>
              <a:t>✓ Air-gapped option available</a:t>
            </a:r>
            <a:br/>
            <a:r>
              <a:t>✓ Integrate with existing systems</a:t>
            </a:r>
            <a:br/>
            <a:r>
              <a:t>✓ Custom hardware specs</a:t>
            </a:r>
            <a:br/>
            <a:r>
              <a:t>✓ Perpetual license 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11277295" cy="8229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🔌 Integrations: SharePoint • SAP • AVEVA/Hexagon • REST API • Custom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</a:defRPr>
            </a:pPr>
            <a:r>
              <a:t>06 —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Enterprise-Grade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🔒 Data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B4"/>
                </a:solidFill>
              </a:defRPr>
            </a:pPr>
            <a:r>
              <a:t>✓ End-to-End Encryption (AES-256, TLS 1.3)</a:t>
            </a:r>
            <a:br/>
            <a:r>
              <a:t>✓ Data Isolation (Tenant-isolated databases)</a:t>
            </a:r>
            <a:br/>
            <a:r>
              <a:t>✓ No Data Retention (Configurable deletion)</a:t>
            </a:r>
            <a:br/>
            <a:r>
              <a:t>✓ Data Residency (UK, EU, or regional)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👤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B4"/>
                </a:solidFill>
              </a:defRPr>
            </a:pPr>
            <a:r>
              <a:t>✓ Single Sign-On (SAML, OAuth 2.0, Azure AD)</a:t>
            </a:r>
            <a:br/>
            <a:r>
              <a:t>✓ Role-Based Access (Granular permissions)</a:t>
            </a:r>
            <a:br/>
            <a:r>
              <a:t>✓ Multi-Factor Authentication</a:t>
            </a:r>
            <a:br/>
            <a:r>
              <a:t>✓ Audit Logging (Complete activity trails)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7729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Compliance &amp; Certifications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🇬🇧 UK GDPR        🔐 ISO 27001        ☁️ SOC 2 Type II        🏭 Industry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07 — SUPPORT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Ongoing Support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657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Included with all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✓ Email support (24hr response)</a:t>
            </a:r>
            <a:br/>
            <a:r>
              <a:t>✓ Documentation &amp; knowledge base</a:t>
            </a:r>
            <a:br/>
            <a:r>
              <a:t>✓ Quarterly software updates</a:t>
            </a:r>
            <a:br/>
            <a:r>
              <a:t>✓ Bug fixes &amp; security patches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6576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Recommended for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✓ 4-hour response time</a:t>
            </a:r>
            <a:br/>
            <a:r>
              <a:t>✓ Phone &amp; video call support</a:t>
            </a:r>
            <a:br/>
            <a:r>
              <a:t>✓ Dedicated account manager</a:t>
            </a:r>
            <a:br/>
            <a:r>
              <a:t>✓ Monthly check-in calls</a:t>
            </a:r>
            <a:br/>
            <a:r>
              <a:t>✓ Priority feature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C8"/>
                </a:solidFill>
              </a:defRPr>
            </a:pPr>
            <a:r>
              <a:t>Mission-critical deployments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✓ 1-hour response (24/7)</a:t>
            </a:r>
            <a:br/>
            <a:r>
              <a:t>✓ On-site support available</a:t>
            </a:r>
            <a:br/>
            <a:r>
              <a:t>✓ Custom SLA agreements</a:t>
            </a:r>
            <a:br/>
            <a:r>
              <a:t>✓ Dedicated engineering team</a:t>
            </a:r>
            <a:br/>
            <a:r>
              <a:t>✓ Quarterly business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1277295" cy="10972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</a:defRPr>
            </a:pPr>
            <a:r>
              <a:t>🔄 Continuous Improvement:  1. Monitor  →  2. Optimize  →  3. Update  →  4. Train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08 — 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How We Work Together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325880"/>
            <a:ext cx="9601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Discovery &amp;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Understand workflows, review samples, IT assessment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606040"/>
            <a:ext cx="9601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Week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Proof of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Configure with your data, pilot, measure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69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3886200"/>
            <a:ext cx="9601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977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Week 5-8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251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Production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Full deployment, integration, training, go-live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212079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3492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5166359"/>
            <a:ext cx="9601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2577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321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Continuous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3949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Check-ins, updates, scale to more use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09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Typical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1554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F"/>
                </a:solidFill>
              </a:defRPr>
            </a:pPr>
            <a:r>
              <a:t>Reduction in document</a:t>
            </a:r>
            <a:br/>
            <a:r>
              <a:t>processing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743200" cy="1554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F"/>
                </a:solidFill>
              </a:defRPr>
            </a:pPr>
            <a:r>
              <a:t>Improvement in</a:t>
            </a:r>
            <a:br/>
            <a:r>
              <a:t>data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743200" cy="15544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F"/>
                </a:solidFill>
              </a:defRPr>
            </a:pPr>
            <a:r>
              <a:t>Faster RFQ</a:t>
            </a:r>
            <a:br/>
            <a:r>
              <a:t>response times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743200" cy="1554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&lt;4wk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48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F"/>
                </a:solidFill>
              </a:defRPr>
            </a:pPr>
            <a:r>
              <a:t>Typical ROI</a:t>
            </a:r>
            <a:br/>
            <a:r>
              <a:t>payback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11277295" cy="32004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</a:defRPr>
            </a:pPr>
            <a:r>
              <a:t>Sample Use Case: Document Review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❌ Before KU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• 50 isometrics = 25-50 engineer-hours</a:t>
            </a:r>
            <a:br/>
            <a:r>
              <a:t>• Inconsistent comment quality</a:t>
            </a:r>
            <a:br/>
            <a:r>
              <a:t>• 60-80% missing code references</a:t>
            </a:r>
            <a:br/>
            <a:r>
              <a:t>• Contractor disputes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✓ After KU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• 50 isometrics = 4-5 hours (90% reduction)</a:t>
            </a:r>
            <a:br/>
            <a:r>
              <a:t>• Standardized comments across all docs</a:t>
            </a:r>
            <a:br/>
            <a:r>
              <a:t>• 95%+ include ASME B31.3 references</a:t>
            </a:r>
            <a:br/>
            <a:r>
              <a:t>• Clear severity ratings (HOLD/COMMENT)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10 —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Flexible Pricing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Pilot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Prove the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t>£5K - £15K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</a:defRPr>
            </a:pPr>
            <a:r>
              <a:t>✓ 4-week implementation</a:t>
            </a:r>
            <a:br/>
            <a:r>
              <a:t>✓ Single use case focus</a:t>
            </a:r>
            <a:br/>
            <a:r>
              <a:t>✓ Up to 10 users</a:t>
            </a:r>
            <a:br/>
            <a:r>
              <a:t>✓ Standard support</a:t>
            </a:r>
            <a:br/>
            <a:r>
              <a:t>✓ ROI measurement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4389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188720"/>
            <a:ext cx="192024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216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8350F"/>
                </a:solidFill>
              </a:defRPr>
            </a:pPr>
            <a:r>
              <a:t>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Professional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</a:defRPr>
            </a:pPr>
            <a:r>
              <a:t>Full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£25K - £75K/yr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✓ 8-week implementation</a:t>
            </a:r>
            <a:br/>
            <a:r>
              <a:t>✓ Multiple use cases</a:t>
            </a:r>
            <a:br/>
            <a:r>
              <a:t>✓ Up to 50 users</a:t>
            </a:r>
            <a:br/>
            <a:r>
              <a:t>✓ Priority support</a:t>
            </a:r>
            <a:br/>
            <a:r>
              <a:t>✓ Integrations included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4389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</a:defRPr>
            </a:pPr>
            <a:r>
              <a:t>Full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260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✓ Dedicated team</a:t>
            </a:r>
            <a:br/>
            <a:r>
              <a:t>✓ Unlimited use cases</a:t>
            </a:r>
            <a:br/>
            <a:r>
              <a:t>✓ Unlimited users</a:t>
            </a:r>
            <a:br/>
            <a:r>
              <a:t>✓ 24/7 support</a:t>
            </a:r>
            <a:br/>
            <a:r>
              <a:t>✓ On-premise 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</a:defRPr>
            </a:pPr>
            <a:r>
              <a:t>All pricing is indicative. Final quotes based on scope, complexity, and deployment requirements.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LET'S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3017520" cy="201168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23160" y="2011680"/>
            <a:ext cx="914400" cy="914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548639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C"/>
                </a:solidFill>
              </a:defRPr>
            </a:pPr>
            <a:r>
              <a:t>30-minute call to</a:t>
            </a:r>
            <a:br/>
            <a:r>
              <a:t>understand your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828800"/>
            <a:ext cx="3017520" cy="201168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97879" y="2011680"/>
            <a:ext cx="914400" cy="914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548639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C"/>
                </a:solidFill>
              </a:defRPr>
            </a:pPr>
            <a:r>
              <a:t>See our tools with</a:t>
            </a:r>
            <a:br/>
            <a:r>
              <a:t>your actual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017520" cy="201168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72600" y="2011680"/>
            <a:ext cx="914400" cy="914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48639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C"/>
                </a:solidFill>
              </a:defRPr>
            </a:pPr>
            <a:r>
              <a:t>Detailed scope, timeline</a:t>
            </a:r>
            <a:br/>
            <a:r>
              <a:t>&amp; investment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114800"/>
            <a:ext cx="5790895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</a:defRPr>
            </a:pPr>
            <a:r>
              <a:t>👤  Kingsley Uzowulu</a:t>
            </a:r>
            <a:br/>
            <a:r>
              <a:t>📧  kingsley.uzowulu@ku-automation.com</a:t>
            </a:r>
            <a:br/>
            <a:r>
              <a:t>🌐  www.ku-automation.com</a:t>
            </a:r>
            <a:br/>
            <a:r>
              <a:t>📅  calendly.com/kingsley-uzowulu/30min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4"/>
                </a:solidFill>
              </a:defRPr>
            </a:pPr>
            <a:r>
              <a:t>Thank you for your time and consideration.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